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7acd211df84a80" /><Relationship Type="http://schemas.openxmlformats.org/officeDocument/2006/relationships/extended-properties" Target="/docProps/app.xml" Id="R28ca1852abda4f35" /><Relationship Type="http://schemas.openxmlformats.org/officeDocument/2006/relationships/officeDocument" Target="/ppt/presentation.xml" Id="R2d9806507c7f40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3737e754294321"/>
  </p:sldMasterIdLst>
  <p:notesMasterIdLst>
    <p:notesMasterId xmlns:r="http://schemas.openxmlformats.org/officeDocument/2006/relationships" r:id="R8866e97289a34084"/>
  </p:notesMasterIdLst>
  <p:sldIdLst>
    <p:sldId xmlns:r="http://schemas.openxmlformats.org/officeDocument/2006/relationships" id="256" r:id="R0e64f894dc584c8f"/>
    <p:sldId xmlns:r="http://schemas.openxmlformats.org/officeDocument/2006/relationships" id="257" r:id="R593bbb0cccee43ad"/>
    <p:sldId xmlns:r="http://schemas.openxmlformats.org/officeDocument/2006/relationships" id="258" r:id="R1356a966a64a4a11"/>
    <p:sldId xmlns:r="http://schemas.openxmlformats.org/officeDocument/2006/relationships" id="259" r:id="R8efcb6aaf91f4ea0"/>
    <p:sldId xmlns:r="http://schemas.openxmlformats.org/officeDocument/2006/relationships" id="260" r:id="Rb301056007f54b39"/>
    <p:sldId xmlns:r="http://schemas.openxmlformats.org/officeDocument/2006/relationships" id="261" r:id="R9b67738f9cdc430e"/>
    <p:sldId xmlns:r="http://schemas.openxmlformats.org/officeDocument/2006/relationships" id="262" r:id="R09073c9d456b4f32"/>
    <p:sldId xmlns:r="http://schemas.openxmlformats.org/officeDocument/2006/relationships" id="263" r:id="Rf4b9bd3467b14263"/>
    <p:sldId xmlns:r="http://schemas.openxmlformats.org/officeDocument/2006/relationships" id="264" r:id="R1e9ee44d58164d0c"/>
    <p:sldId xmlns:r="http://schemas.openxmlformats.org/officeDocument/2006/relationships" id="265" r:id="R74b24e780eda40ce"/>
    <p:sldId xmlns:r="http://schemas.openxmlformats.org/officeDocument/2006/relationships" id="266" r:id="Rb69bb2b4f248471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3737e754294321" /><Relationship Type="http://schemas.openxmlformats.org/officeDocument/2006/relationships/theme" Target="/ppt/theme/theme1.xml" Id="Rea542f724d9a4b62" /><Relationship Type="http://schemas.openxmlformats.org/officeDocument/2006/relationships/notesMaster" Target="/ppt/notesMasters/notesMaster1.xml" Id="R8866e97289a34084" /><Relationship Type="http://schemas.openxmlformats.org/officeDocument/2006/relationships/presProps" Target="/ppt/presProps.xml" Id="R088aa63aad3e44d6" /><Relationship Type="http://schemas.openxmlformats.org/officeDocument/2006/relationships/viewProps" Target="/ppt/viewProps.xml" Id="Rc5a3b2d91e6f4dd0" /><Relationship Type="http://schemas.openxmlformats.org/officeDocument/2006/relationships/tableStyles" Target="/ppt/tableStyles.xml" Id="R54b18e05fc7b442c" /><Relationship Type="http://schemas.openxmlformats.org/officeDocument/2006/relationships/slide" Target="/ppt/slides/slide1.xml" Id="R0e64f894dc584c8f" /><Relationship Type="http://schemas.openxmlformats.org/officeDocument/2006/relationships/slide" Target="/ppt/slides/slide2.xml" Id="R593bbb0cccee43ad" /><Relationship Type="http://schemas.openxmlformats.org/officeDocument/2006/relationships/slide" Target="/ppt/slides/slide3.xml" Id="R1356a966a64a4a11" /><Relationship Type="http://schemas.openxmlformats.org/officeDocument/2006/relationships/slide" Target="/ppt/slides/slide4.xml" Id="R8efcb6aaf91f4ea0" /><Relationship Type="http://schemas.openxmlformats.org/officeDocument/2006/relationships/slide" Target="/ppt/slides/slide5.xml" Id="Rb301056007f54b39" /><Relationship Type="http://schemas.openxmlformats.org/officeDocument/2006/relationships/slide" Target="/ppt/slides/slide6.xml" Id="R9b67738f9cdc430e" /><Relationship Type="http://schemas.openxmlformats.org/officeDocument/2006/relationships/slide" Target="/ppt/slides/slide7.xml" Id="R09073c9d456b4f32" /><Relationship Type="http://schemas.openxmlformats.org/officeDocument/2006/relationships/slide" Target="/ppt/slides/slide8.xml" Id="Rf4b9bd3467b14263" /><Relationship Type="http://schemas.openxmlformats.org/officeDocument/2006/relationships/slide" Target="/ppt/slides/slide9.xml" Id="R1e9ee44d58164d0c" /><Relationship Type="http://schemas.openxmlformats.org/officeDocument/2006/relationships/slide" Target="/ppt/slides/slide10.xml" Id="R74b24e780eda40ce" /><Relationship Type="http://schemas.openxmlformats.org/officeDocument/2006/relationships/slide" Target="/ppt/slides/slide11.xml" Id="Rb69bb2b4f24847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f5771ff9ac947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9157c1ba154678" /><Relationship Type="http://schemas.openxmlformats.org/officeDocument/2006/relationships/notesMaster" Target="/ppt/notesMasters/notesMaster1.xml" Id="Rb5334e7a10cb46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b5d9f751f74ac2" /><Relationship Type="http://schemas.openxmlformats.org/officeDocument/2006/relationships/notesMaster" Target="/ppt/notesMasters/notesMaster1.xml" Id="R90c24e0a8bee40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e642f9a7b34afd" /><Relationship Type="http://schemas.openxmlformats.org/officeDocument/2006/relationships/notesMaster" Target="/ppt/notesMasters/notesMaster1.xml" Id="R8ba1011c37284a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d467e310114dc9" /><Relationship Type="http://schemas.openxmlformats.org/officeDocument/2006/relationships/notesMaster" Target="/ppt/notesMasters/notesMaster1.xml" Id="Rb6c3ef46687947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4979e8b58b4e1e" /><Relationship Type="http://schemas.openxmlformats.org/officeDocument/2006/relationships/notesMaster" Target="/ppt/notesMasters/notesMaster1.xml" Id="Rd3d64441218948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75696772404b70" /><Relationship Type="http://schemas.openxmlformats.org/officeDocument/2006/relationships/notesMaster" Target="/ppt/notesMasters/notesMaster1.xml" Id="Rfcab9a2e0f1b44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1e201ea3214e1f" /><Relationship Type="http://schemas.openxmlformats.org/officeDocument/2006/relationships/notesMaster" Target="/ppt/notesMasters/notesMaster1.xml" Id="R05056b611cc049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9b030c01244b43" /><Relationship Type="http://schemas.openxmlformats.org/officeDocument/2006/relationships/notesMaster" Target="/ppt/notesMasters/notesMaster1.xml" Id="Rce37e0dbda5f48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bd7909178a4f15" /><Relationship Type="http://schemas.openxmlformats.org/officeDocument/2006/relationships/notesMaster" Target="/ppt/notesMasters/notesMaster1.xml" Id="Rf7cce78f95174b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8768ce9a874c39" /><Relationship Type="http://schemas.openxmlformats.org/officeDocument/2006/relationships/notesMaster" Target="/ppt/notesMasters/notesMaster1.xml" Id="R94dc1c56929045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c433173a514773" /><Relationship Type="http://schemas.openxmlformats.org/officeDocument/2006/relationships/notesMaster" Target="/ppt/notesMasters/notesMaster1.xml" Id="Rbf3e49e990664a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2c0a9dccd1486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7715164b07a4ddc" /><Relationship Type="http://schemas.openxmlformats.org/officeDocument/2006/relationships/slideLayout" Target="/ppt/slideLayouts/slideLayout2.xml" Id="R281dbd6f165f48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1dbd6f165f48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c4ce3e70bb406c" /><Relationship Type="http://schemas.openxmlformats.org/officeDocument/2006/relationships/notesSlide" Target="/ppt/notesSlides/notesSlide1.xml" Id="Rcf1987dfe2da44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6a1677c85c45cf" /><Relationship Type="http://schemas.openxmlformats.org/officeDocument/2006/relationships/notesSlide" Target="/ppt/notesSlides/notesSlide2.xml" Id="Rfb03c234657546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392b9f7cd04734" /><Relationship Type="http://schemas.openxmlformats.org/officeDocument/2006/relationships/image" Target="/ppt/media/image.png" Id="R3a3ebbdf31b441a3" /><Relationship Type="http://schemas.openxmlformats.org/officeDocument/2006/relationships/notesSlide" Target="/ppt/notesSlides/notesSlide3.xml" Id="R3c3d8ab3dc9044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20c290ca914b9d" /><Relationship Type="http://schemas.openxmlformats.org/officeDocument/2006/relationships/notesSlide" Target="/ppt/notesSlides/notesSlide4.xml" Id="Rc918d6b7c46247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f324aa5b074dca" /><Relationship Type="http://schemas.openxmlformats.org/officeDocument/2006/relationships/notesSlide" Target="/ppt/notesSlides/notesSlide5.xml" Id="R3313b8c311a245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dfbc50467c4989" /><Relationship Type="http://schemas.openxmlformats.org/officeDocument/2006/relationships/notesSlide" Target="/ppt/notesSlides/notesSlide6.xml" Id="R092b79d1036349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11bae7affc4d8d" /><Relationship Type="http://schemas.openxmlformats.org/officeDocument/2006/relationships/notesSlide" Target="/ppt/notesSlides/notesSlide7.xml" Id="R1210a0c2bbe546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d465c80b974a8d" /><Relationship Type="http://schemas.openxmlformats.org/officeDocument/2006/relationships/notesSlide" Target="/ppt/notesSlides/notesSlide8.xml" Id="R8e67bcc036ea49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f1f1ff72ae46b7" /><Relationship Type="http://schemas.openxmlformats.org/officeDocument/2006/relationships/notesSlide" Target="/ppt/notesSlides/notesSlide9.xml" Id="Rd65c7b327af94c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4374b75d994bcd" /><Relationship Type="http://schemas.openxmlformats.org/officeDocument/2006/relationships/notesSlide" Target="/ppt/notesSlides/notesSlide10.xml" Id="R8aa8705969404e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01ad731e164ab2" /><Relationship Type="http://schemas.openxmlformats.org/officeDocument/2006/relationships/notesSlide" Target="/ppt/notesSlides/notesSlide11.xml" Id="R0e64f7e2a2e045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54DD2D-B591-4796-AEAF-450BCF2E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AC"/>
          </a:solidFill>
          <a:ln xmlns:a="http://schemas.openxmlformats.org/drawingml/2006/main" w="0">
            <a:solidFill>
              <a:srgbClr val="1768A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11575-F587-4069-872A-485AB749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1768AC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768AC"/>
                </a:solidFill>
                <a:latin typeface="Yu Gothic"/>
                <a:ea typeface="Yu Gothic"/>
                <a:cs typeface="Yu Gothic"/>
              </a:rPr>
              <a:t>海外事業・M&amp;A企画チーム向け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96108-A1A8-4F4D-B435-ADE843BB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239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750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3750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Codex / Claude Code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750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3750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実務比較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864B7-C6FD-4AB8-9999-97C41F25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723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976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650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AIを「相談相手」ではなく、調査・資料化・レビューまで進める実務パートナーとして使うための整理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26249-EC5E-4B0A-A94C-5D56DB42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524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DCEE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97230-CBB1-4376-8CDE-731837D4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52825"/>
            <a:ext cx="1333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807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1">
                <a:solidFill>
                  <a:srgbClr val="1768AC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768AC"/>
                </a:solidFill>
                <a:latin typeface="Yu Gothic"/>
                <a:ea typeface="Yu Gothic"/>
                <a:cs typeface="Yu Gothic"/>
              </a:rPr>
              <a:t>第2回デモ資料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BB77F-1E34-443B-A11F-BD6158C2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86150"/>
            <a:ext cx="12573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4F5EE"/>
          </a:solidFill>
          <a:ln xmlns:a="http://schemas.openxmlformats.org/drawingml/2006/main" w="9525">
            <a:solidFill>
              <a:srgbClr val="E4F5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749A8-D63F-46D5-994D-685DCEF3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552825"/>
            <a:ext cx="1066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807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1">
                <a:solidFill>
                  <a:srgbClr val="2B8A6E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B8A6E"/>
                </a:solidFill>
                <a:latin typeface="Yu Gothic"/>
                <a:ea typeface="Yu Gothic"/>
                <a:cs typeface="Yu Gothic"/>
              </a:rPr>
              <a:t>中立比較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FDFC3E-5397-440F-936E-EA256F45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86150"/>
            <a:ext cx="12573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0C7"/>
          </a:solidFill>
          <a:ln xmlns:a="http://schemas.openxmlformats.org/drawingml/2006/main" w="9525">
            <a:solidFill>
              <a:srgbClr val="FFF0C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E22A9-AC8D-4383-9155-8D77CFE7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52825"/>
            <a:ext cx="1066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807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1">
                <a:solidFill>
                  <a:srgbClr val="B5832A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B5832A"/>
                </a:solidFill>
                <a:latin typeface="Yu Gothic"/>
                <a:ea typeface="Yu Gothic"/>
                <a:cs typeface="Yu Gothic"/>
              </a:rPr>
              <a:t>配布用PPT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4DE2D2-304D-42CF-9821-82E2600D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819150"/>
            <a:ext cx="2857500" cy="46101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6F0F1-76EB-4337-8E2A-97730ED2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181100"/>
            <a:ext cx="2286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982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本資料の見方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C522FA-8757-4697-ADC8-D360C69C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76400"/>
            <a:ext cx="21907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947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42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どちらが絶対に優れているかではなく、海外事業・M&amp;A企画のどの作業で差が出やすいかを見る資料です。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0887F-BC85-4E40-87BE-C6D94C98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38500"/>
            <a:ext cx="22860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792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日常作業の前進力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深い読み込みとレビュー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画像・音声・資料化のしやすさ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275899-F203-4E0B-A434-67B26B0D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7A8492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7A8492"/>
                </a:solidFill>
                <a:latin typeface="Yu Gothic"/>
                <a:ea typeface="Yu Gothic"/>
                <a:cs typeface="Yu Gothic"/>
              </a:rPr>
              <a:t>Group Overseas Business / M&amp;A planning team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D94527-54C3-4AEB-A82A-25C9D441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1">
                <a:solidFill>
                  <a:srgbClr val="7A8492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7A8492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547426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9D5AE5-FE6F-436A-AFA7-227497D1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AC"/>
          </a:solidFill>
          <a:ln xmlns:a="http://schemas.openxmlformats.org/drawingml/2006/main" w="0">
            <a:solidFill>
              <a:srgbClr val="1768A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7F979-7E1C-4F56-93C2-A47CF7C0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1768AC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768AC"/>
                </a:solidFill>
                <a:latin typeface="Yu Gothic"/>
                <a:ea typeface="Yu Gothic"/>
                <a:cs typeface="Yu Gothic"/>
              </a:rPr>
              <a:t>Executive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27652-7956-447D-BB6F-B424345B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95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AIエージェントは、チャット回答から「作業そのもの」へ移っている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79481-FF7F-4B79-B1C6-985DDE55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10096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海外事業・M&amp;A企画では、調査から説明資料までの距離が短くなることが最大の価値です。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E1494-8CA0-4F29-AE3C-6A8AB3BF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2286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866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3300" b="1">
                <a:solidFill>
                  <a:srgbClr val="1768AC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68AC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699B3-B159-422C-814D-3394BBBE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2286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8578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情報収集を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成果物に変える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2B510-DA90-405A-9201-CC60B2DA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43200"/>
            <a:ext cx="2286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866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3300" b="1">
                <a:solidFill>
                  <a:srgbClr val="2B8A6E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2B8A6E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273BC-EFAF-48F7-8B19-BB30D39F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95650"/>
            <a:ext cx="2286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8578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資料の初稿を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前倒しする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5707D-4B74-4968-A1DA-60E74336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43200"/>
            <a:ext cx="2286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866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3300" b="1">
                <a:solidFill>
                  <a:srgbClr val="B5832A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B5832A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A6C59-1BD6-44AB-BC55-AD8243D8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95650"/>
            <a:ext cx="2286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8578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レビュー密度を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上げる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D8AAA-3498-4800-838E-FE0BCD9A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4320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866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3300" b="1">
                <a:solidFill>
                  <a:srgbClr val="B84A4A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B84A4A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8D2C5E-F5E4-40FC-8C44-BE6E1AF1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95650"/>
            <a:ext cx="1524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8578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音声からでも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仕事を始める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0DE170-593C-463C-BFF6-6C3E7DBF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95850"/>
            <a:ext cx="1032510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D3B962-33F7-4719-B7F2-93169FA0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958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AC"/>
          </a:solidFill>
          <a:ln xmlns:a="http://schemas.openxmlformats.org/drawingml/2006/main" w="9525">
            <a:solidFill>
              <a:srgbClr val="1768A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FD78B4-DD1C-46A8-9B4E-5B2EAAF7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67300"/>
            <a:ext cx="9906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この比較で見たいこと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93BE9E-9D72-4018-B468-F6F4D421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86400"/>
            <a:ext cx="990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718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CodexとClaude Codeは重なる部分が多い一方で、作業の入口・資料化・レビューの得意領域に違いがあります。導入判断では、単体性能よりもチームの業務にどう組み込むかが重要です。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30758E-DA0E-4C6C-A2D2-7FD80E39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7A8492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7A8492"/>
                </a:solidFill>
                <a:latin typeface="Yu Gothic"/>
                <a:ea typeface="Yu Gothic"/>
                <a:cs typeface="Yu Gothic"/>
              </a:rPr>
              <a:t>Group Overseas Business / M&amp;A planning team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2D1C69-8781-4839-916D-229788F2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1">
                <a:solidFill>
                  <a:srgbClr val="7A8492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7A8492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622121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56AC39-1871-4902-AE11-63BEBC4D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AC"/>
          </a:solidFill>
          <a:ln xmlns:a="http://schemas.openxmlformats.org/drawingml/2006/main" w="0">
            <a:solidFill>
              <a:srgbClr val="1768A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19CD0-6E33-4EA4-B466-0F81EE00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1768AC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768AC"/>
                </a:solidFill>
                <a:latin typeface="Yu Gothic"/>
                <a:ea typeface="Yu Gothic"/>
                <a:cs typeface="Yu Gothic"/>
              </a:rPr>
              <a:t>Visual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0026E-6268-447B-A389-90E5A4C5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429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997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画像生成で見せる「作業者から判断者へ」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4E83F4-0AE6-4192-A3F9-5D07DD16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9048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863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文字だけの比較では伝わりにくい価値を、1枚の図解として説明できます。ビジネス資料では、こうした視覚化の速度が大きな差になります。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72193-1B23-418C-BB7B-E4C1C82C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10858500" cy="4076700"/>
          </a:xfrm>
          <a:prstGeom xmlns:a="http://schemas.openxmlformats.org/drawingml/2006/main" prst="roundRect">
            <a:avLst>
              <a:gd name="adj" fmla="val 1869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CE4EE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ebbdf31b441a3"/>
          <a:stretch xmlns:a="http://schemas.openxmlformats.org/drawingml/2006/main"/>
        </p:blipFill>
        <p:spPr>
          <a:xfrm xmlns:a="http://schemas.openxmlformats.org/drawingml/2006/main">
            <a:off x="2829603" y="2114550"/>
            <a:ext cx="6532794" cy="36766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3A1B03-50CA-4EBE-ACE0-75ACA736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704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7A8492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7A8492"/>
                </a:solidFill>
                <a:latin typeface="Yu Gothic"/>
                <a:ea typeface="Yu Gothic"/>
                <a:cs typeface="Yu Gothic"/>
              </a:rPr>
              <a:t>※PPTX内に画像として埋め込み済み。リンクではありません。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F654D6-8A7D-4201-8779-60998524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7A8492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7A8492"/>
                </a:solidFill>
                <a:latin typeface="Yu Gothic"/>
                <a:ea typeface="Yu Gothic"/>
                <a:cs typeface="Yu Gothic"/>
              </a:rPr>
              <a:t>Group Overseas Business / M&amp;A planning team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E74745-0C02-45E4-9DF9-B41AEFA0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1">
                <a:solidFill>
                  <a:srgbClr val="7A8492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7A8492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710621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BB9A33-93D8-43CF-8A15-BD1EE10B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AC"/>
          </a:solidFill>
          <a:ln xmlns:a="http://schemas.openxmlformats.org/drawingml/2006/main" w="0">
            <a:solidFill>
              <a:srgbClr val="1768A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4A76B-6B93-4362-B034-55C3D17E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1768AC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768AC"/>
                </a:solidFill>
                <a:latin typeface="Yu Gothic"/>
                <a:ea typeface="Yu Gothic"/>
                <a:cs typeface="Yu Gothic"/>
              </a:rPr>
              <a:t>What agents can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4EA75-EDB9-4844-AABA-F6D0B066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95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M&amp;A企画で効くのは、単発回答ではなく「一連の作業」を進める力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71C69-2744-41C6-900D-D46AC9B1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10096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公開情報の確認、投資仮説の整理、説明資料の作成、レビューまでを同じ会話で前に進められます。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3BE58-0F8A-487D-81B8-2FF1DD80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24574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BF16B-800A-4A26-AE3E-022D1F7A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AC"/>
          </a:solidFill>
          <a:ln xmlns:a="http://schemas.openxmlformats.org/drawingml/2006/main" w="9525">
            <a:solidFill>
              <a:srgbClr val="1768A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D63E4-8C79-41AE-BCBD-814F4943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2038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調査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BF6370-AE37-49D2-8B07-6F02099D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20383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対象国・競合・規制・市場ニュースを集め、要点と未確認事項を切り分ける。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D33A4C-18FA-4D41-B5AC-68E48D7D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24150"/>
            <a:ext cx="24574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DA3C9-10C8-4656-A747-BE89C0D0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241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842DCA-4C8B-4382-8212-D13C688F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95600"/>
            <a:ext cx="2038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資料化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A8450E-D03B-4F28-9B73-E85F5D39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14700"/>
            <a:ext cx="20383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集めた材料を、投資メモ・比較表・説明用ページ・スライド案に整える。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6999B-8C3A-457E-A5A9-44408256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24574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A0A076-EFFD-468A-9D9C-295E7AA2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32A"/>
          </a:solidFill>
          <a:ln xmlns:a="http://schemas.openxmlformats.org/drawingml/2006/main" w="9525">
            <a:solidFill>
              <a:srgbClr val="B5832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A54C29-6314-45DF-AE5E-E621E53D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95600"/>
            <a:ext cx="2038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レビュー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49FB23-89D7-406D-A015-B6522EA3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14700"/>
            <a:ext cx="20383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論点漏れ、数字の整合性、表現の強弱、意思決定者への見せ方を確認する。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43071C-9A58-4A13-A816-85D0E481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24150"/>
            <a:ext cx="24574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4206D4-1677-49D8-931A-E7FC9EAB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241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4A"/>
          </a:solidFill>
          <a:ln xmlns:a="http://schemas.openxmlformats.org/drawingml/2006/main" w="9525">
            <a:solidFill>
              <a:srgbClr val="B84A4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23D95E-5775-4386-B10F-30675195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95600"/>
            <a:ext cx="2038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定期確認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FCADF6-E206-426E-BD0A-C78694EC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14700"/>
            <a:ext cx="20383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ニュース、競合動向、為替・市場指標などを継続的に見に行き、変化を拾う。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7E3E28-E752-435A-A96A-6745E86B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91440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4B1B13-9404-4375-B63D-29A366EA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AC"/>
          </a:solidFill>
          <a:ln xmlns:a="http://schemas.openxmlformats.org/drawingml/2006/main" w="9525">
            <a:solidFill>
              <a:srgbClr val="1768A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C681FA-9E90-49BF-880F-B3E5E5E8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24450"/>
            <a:ext cx="872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銀行のビジネスユーザーにとっての意味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2D1F93-65F3-4EA6-825B-7788B59A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43550"/>
            <a:ext cx="8724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専門的な開発知識がなくても、AIに作業の段取りを任せながら、最後は人間が判断する形に近づけられます。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F013B4-3DDB-4AC5-9F3C-5CCC0D6E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7A8492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7A8492"/>
                </a:solidFill>
                <a:latin typeface="Yu Gothic"/>
                <a:ea typeface="Yu Gothic"/>
                <a:cs typeface="Yu Gothic"/>
              </a:rPr>
              <a:t>Group Overseas Business / M&amp;A planning team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CAFEDD-6783-4FFC-A67A-FDE798A9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1">
                <a:solidFill>
                  <a:srgbClr val="7A8492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7A8492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476433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66682A-02CE-42A0-AC25-F09D38CE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AC"/>
          </a:solidFill>
          <a:ln xmlns:a="http://schemas.openxmlformats.org/drawingml/2006/main" w="0">
            <a:solidFill>
              <a:srgbClr val="1768A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E651C-C3CD-4545-8529-5C7D3A0E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1768AC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768AC"/>
                </a:solidFill>
                <a:latin typeface="Yu Gothic"/>
                <a:ea typeface="Yu Gothic"/>
                <a:cs typeface="Yu Gothic"/>
              </a:rPr>
              <a:t>OpenAI / Codex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401758-2A4D-4D82-9495-EC59A0D7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95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Codexが強く見えやすいのは、毎日の仕事を広く前に進める場面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EB9BF-7D2B-431B-B61E-255DB2CD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10096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アプリ中心で始めやすく、資料化・画像生成・音声入力まで含めた実務の入口が広いことが利点です。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1A527B-6BEE-43F8-A680-61C865B1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329565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2AC48-12E7-4B3D-A8D0-0E4DF005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AC"/>
          </a:solidFill>
          <a:ln xmlns:a="http://schemas.openxmlformats.org/drawingml/2006/main" w="9525">
            <a:solidFill>
              <a:srgbClr val="1768A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A0797-EC66-4D34-AE6F-A53D28D3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2876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アプリだけで始めやすい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8C426E-0A84-491B-9BFB-A409BF97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28765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742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開発者はVS Codeでも使えますが、ビジネスユーザーはCodexアプリ中心でも十分に作業を進められます。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04DBE5-5309-4EB0-912F-7142D4AE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67000"/>
            <a:ext cx="329565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53F7F9-A587-4EE4-A26B-951C8BB6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67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6F244E-FC25-4B5C-82B1-A28A4224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38450"/>
            <a:ext cx="2876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資料・表・説明ページまで作る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E961CD-326B-49E5-A10E-1BFBF70D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57550"/>
            <a:ext cx="28765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752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PowerPoint、Word、Excel、説明用ページなど、会議で使う形に近い成果物まで持っていきやすい。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5C22A4-697D-4ECD-A892-7417703E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329565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18A986-FC90-4DC3-9496-6BDBBCF9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32A"/>
          </a:solidFill>
          <a:ln xmlns:a="http://schemas.openxmlformats.org/drawingml/2006/main" w="9525">
            <a:solidFill>
              <a:srgbClr val="B5832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94BDFF-FD1D-4828-A521-73ABC49A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38450"/>
            <a:ext cx="2876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画像と図解に強い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A2C6DD-AE2C-415B-BAB2-FE2FE5AF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57550"/>
            <a:ext cx="28765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788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インフォグラフィック、業務フロー、スライド用の概念図など、視覚で伝える資料を作りやすい。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084734-E39C-4EB2-A945-FE61544D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329565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246609-C2B5-43D1-8583-80F88559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4A"/>
          </a:solidFill>
          <a:ln xmlns:a="http://schemas.openxmlformats.org/drawingml/2006/main" w="9525">
            <a:solidFill>
              <a:srgbClr val="B84A4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05CF06-6BBA-4DE2-9DDC-ABEB019B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0"/>
            <a:ext cx="2876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音声で仕事を始められる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D57FE3-7246-4CC7-9566-E7FE492C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91100"/>
            <a:ext cx="28765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742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Aqua Voice並みの音声入力と組み合わせると、移動中のメモや口頭の構想をそのまま作業依頼にできます。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529D90-01FB-417C-8CD8-899C53C9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00550"/>
            <a:ext cx="329565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94D259-8DBA-4A66-88D2-1D27405F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005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AC"/>
          </a:solidFill>
          <a:ln xmlns:a="http://schemas.openxmlformats.org/drawingml/2006/main" w="9525">
            <a:solidFill>
              <a:srgbClr val="1768A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2FF400-DDD3-4FFF-B835-CD8C88DB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72000"/>
            <a:ext cx="2876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調べながら整える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FBF0C3-8C72-4FED-B23F-7B4CCFB3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91100"/>
            <a:ext cx="28765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919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ブラウザやファイルを見ながら、根拠確認と成果物化を同じ流れで進められます。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24EA0A-10B2-445D-B846-351A9B35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00550"/>
            <a:ext cx="329565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C3772C-A10C-44D4-8BEB-240BBF20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005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C63717-8F10-418B-B129-36A6BDA4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72000"/>
            <a:ext cx="2876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使用量の安心感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2B2233-2788-4EC7-8B70-57323A78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991100"/>
            <a:ext cx="28765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91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同じ予算感でも、日常的に長く使いやすいという体感は導入後の定着に直結します。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1010E1-E5FF-4655-B3BD-68935DCC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7A8492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7A8492"/>
                </a:solidFill>
                <a:latin typeface="Yu Gothic"/>
                <a:ea typeface="Yu Gothic"/>
                <a:cs typeface="Yu Gothic"/>
              </a:rPr>
              <a:t>Group Overseas Business / M&amp;A planning team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053091-FDEA-48BF-8697-6FC79AAF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1">
                <a:solidFill>
                  <a:srgbClr val="7A8492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7A8492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226405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E68F9A-1953-40E0-B490-167DE325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AC"/>
          </a:solidFill>
          <a:ln xmlns:a="http://schemas.openxmlformats.org/drawingml/2006/main" w="0">
            <a:solidFill>
              <a:srgbClr val="1768A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EB46C-64D6-41A7-8DE2-27978945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1768AC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768AC"/>
                </a:solidFill>
                <a:latin typeface="Yu Gothic"/>
                <a:ea typeface="Yu Gothic"/>
                <a:cs typeface="Yu Gothic"/>
              </a:rPr>
              <a:t>Claude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8BB9F-6222-46A3-A3D7-D62E9740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0965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929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Claude Codeが強く見えやすいのは、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深い読み込みと批判的レビューの場面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FD68B-FE54-4571-9411-4CE7E3AE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9906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M&amp;A資料では、長い文書を読み、論理の穴や表現の違和感を見つける力が補完価値になります。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C4D01-A089-4FEA-B0CD-B44EE70C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3162300" cy="1600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E2217-8A8C-4D87-9664-9166AD51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66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415E8-C7C4-4827-971E-AA0731BE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743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長文資料の読み込み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9C30C-B5FB-408F-97EC-66053572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27432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事業計画、CIM、議事録、DD論点など、文脈の長い資料を踏まえた整理に向いています。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9B8AA-777D-41DC-88A9-F187FFFF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81300"/>
            <a:ext cx="3162300" cy="1600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1A129-803B-4AFB-AEA9-FE9E1B5A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81300"/>
            <a:ext cx="66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32A"/>
          </a:solidFill>
          <a:ln xmlns:a="http://schemas.openxmlformats.org/drawingml/2006/main" w="9525">
            <a:solidFill>
              <a:srgbClr val="B5832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B3875F-2D32-4756-95CC-D26260E3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52750"/>
            <a:ext cx="2743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レビューの自然さ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1B83AC-2135-4DE7-AA6D-96A4BB64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71850"/>
            <a:ext cx="27432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投資メモの論点不足、説明の強弱、読み手に誤解される表現を見つけやすい。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FF52C3-A816-41A7-9C7F-A18C0B27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81300"/>
            <a:ext cx="3162300" cy="1600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0B95A9-990F-4CDD-B835-4486ACA0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81300"/>
            <a:ext cx="66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AC"/>
          </a:solidFill>
          <a:ln xmlns:a="http://schemas.openxmlformats.org/drawingml/2006/main" w="9525">
            <a:solidFill>
              <a:srgbClr val="1768A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BECC32-3324-4EEB-BDEB-81A0B3CF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52750"/>
            <a:ext cx="2743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文章品質の底上げ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D88530-11DF-4EBB-A267-6179DE4E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71850"/>
            <a:ext cx="27432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日本語・英語の説明文、役員向けの表現調整、文体統一などで使いやすい。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317E52-5392-47AD-B66D-2D7C880B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838700"/>
            <a:ext cx="86487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25CDF1-D39A-455E-AF0C-C5E05069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8387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4A"/>
          </a:solidFill>
          <a:ln xmlns:a="http://schemas.openxmlformats.org/drawingml/2006/main" w="9525">
            <a:solidFill>
              <a:srgbClr val="B84A4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53EE0D-317A-4442-8B65-F01AD0D3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10150"/>
            <a:ext cx="8229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ただし導入判断では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974A1F-F39A-4D66-9F09-1EE7F92C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29250"/>
            <a:ext cx="8229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816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Claudeだけに寄せると、使用量・コスト・画像生成・資料作成までの広さが論点になります。深いレビュー役として組み合わせると価値が出やすいです。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E2E76F-FC40-4CC8-9884-54F4701C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7A8492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7A8492"/>
                </a:solidFill>
                <a:latin typeface="Yu Gothic"/>
                <a:ea typeface="Yu Gothic"/>
                <a:cs typeface="Yu Gothic"/>
              </a:rPr>
              <a:t>Group Overseas Business / M&amp;A planning team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EC1C2C-5EDB-46F9-A9E8-AE9681E7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1">
                <a:solidFill>
                  <a:srgbClr val="7A8492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7A8492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207207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67C951-48F6-4A9E-85F3-3197FA29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AC"/>
          </a:solidFill>
          <a:ln xmlns:a="http://schemas.openxmlformats.org/drawingml/2006/main" w="0">
            <a:solidFill>
              <a:srgbClr val="1768A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FB1C2-93EF-4C35-893E-45BB22BE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1768AC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768AC"/>
                </a:solidFill>
                <a:latin typeface="Yu Gothic"/>
                <a:ea typeface="Yu Gothic"/>
                <a:cs typeface="Yu Gothic"/>
              </a:rPr>
              <a:t>Scenario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5971E-250D-495D-87DE-EBD2D52B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95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海外事業・M&amp;A企画では、作業別に役割を分けると説明しやすい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FFA7B-0B80-4944-9143-38E984BB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10096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同じ作業も両方でできます。差が出やすいところに応じて、主担当と確認役を置く考え方です。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0AB66-E9A7-4565-A9B9-8AA262D8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07442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22033"/>
          </a:solidFill>
          <a:ln xmlns:a="http://schemas.openxmlformats.org/drawingml/2006/main" w="9525">
            <a:solidFill>
              <a:srgbClr val="12203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168F1-6D3E-42C1-B0CF-6CC13F68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05075"/>
            <a:ext cx="2667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913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作業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AD260C-200A-461F-975D-E7F0F938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05075"/>
            <a:ext cx="152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913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主に使う側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ABDDEF-3A1C-408B-B198-281978EE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05075"/>
            <a:ext cx="5143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913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使い方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B56774-2781-4497-8AE1-EAAC1603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929AFB-2B86-4E36-AD43-F17637A8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19425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941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対象国・市場調査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0678A5-DE32-4728-A3EF-191886EA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00375"/>
            <a:ext cx="11239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DCEE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34C4D8-93D0-4AA8-935F-C21465EC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48000"/>
            <a:ext cx="971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807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1">
                <a:solidFill>
                  <a:srgbClr val="1768AC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768AC"/>
                </a:solidFill>
                <a:latin typeface="Yu Gothic"/>
                <a:ea typeface="Yu Gothic"/>
                <a:cs typeface="Yu Gothic"/>
              </a:rPr>
              <a:t>Codex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9F50C8-4DFA-4186-A44B-CA50B8DD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09900"/>
            <a:ext cx="514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公開情報を集め、比較表・説明資料の形にする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218E93-12CD-40A8-AAF3-A3557A6D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B76376-9829-4743-B1EB-CB69CDC7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8075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941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投資メモ初稿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7FD1F1-5623-40AB-B5D2-DF0521F8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629025"/>
            <a:ext cx="11239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DCEE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792B73-431F-4323-86A3-7A190AF8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676650"/>
            <a:ext cx="971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807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1">
                <a:solidFill>
                  <a:srgbClr val="1768AC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768AC"/>
                </a:solidFill>
                <a:latin typeface="Yu Gothic"/>
                <a:ea typeface="Yu Gothic"/>
                <a:cs typeface="Yu Gothic"/>
              </a:rPr>
              <a:t>Codex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EE8C5D-2BCD-4A60-A2A8-2ED23629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38550"/>
            <a:ext cx="514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論点、仮説、未確認事項を1枚資料に落とす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335847-AB6C-4230-965A-79815178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9D72FF-9229-451E-B853-3BBC6E4E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76725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941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長文資料レビュー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B160E7-FC5C-43CF-A468-8409DD8E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257675"/>
            <a:ext cx="11239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4F5EE"/>
          </a:solidFill>
          <a:ln xmlns:a="http://schemas.openxmlformats.org/drawingml/2006/main" w="9525">
            <a:solidFill>
              <a:srgbClr val="E4F5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B51A01-E725-407D-B720-AB65816E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05300"/>
            <a:ext cx="971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807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1">
                <a:solidFill>
                  <a:srgbClr val="2B8A6E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B8A6E"/>
                </a:solidFill>
                <a:latin typeface="Yu Gothic"/>
                <a:ea typeface="Yu Gothic"/>
                <a:cs typeface="Yu Gothic"/>
              </a:rPr>
              <a:t>Claude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9B800D-A0D8-4716-9B22-7545530E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67200"/>
            <a:ext cx="514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事業計画や説明文の論理・表現を批判的に見る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A077FD-0114-48A7-B2C5-498CB7EF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588828-3C69-49DF-B4C1-2B785159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05375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941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画像・図解・スライド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F673DA-B03D-44C0-95AE-B4945D14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886325"/>
            <a:ext cx="11239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DCEE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0458A3-3542-4693-A6D9-FE284240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33950"/>
            <a:ext cx="971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807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1">
                <a:solidFill>
                  <a:srgbClr val="1768AC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768AC"/>
                </a:solidFill>
                <a:latin typeface="Yu Gothic"/>
                <a:ea typeface="Yu Gothic"/>
                <a:cs typeface="Yu Gothic"/>
              </a:rPr>
              <a:t>Codex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79666E-3915-42B2-81BE-B22B0895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895850"/>
            <a:ext cx="514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視覚化し、会議で伝わる資料にする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DB3378-81A3-4CA3-BFA4-8E8C72D0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3EDC77-F0EA-4E4F-A5D0-0BE56E06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34025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941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最終確認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B8DC09-A9E7-41D9-B448-29F19D9A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514975"/>
            <a:ext cx="11239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0C7"/>
          </a:solidFill>
          <a:ln xmlns:a="http://schemas.openxmlformats.org/drawingml/2006/main" w="9525">
            <a:solidFill>
              <a:srgbClr val="FFF0C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4CF736-2855-4055-B5B0-8D7CD9AE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562600"/>
            <a:ext cx="971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807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1">
                <a:solidFill>
                  <a:srgbClr val="B5832A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B5832A"/>
                </a:solidFill>
                <a:latin typeface="Yu Gothic"/>
                <a:ea typeface="Yu Gothic"/>
                <a:cs typeface="Yu Gothic"/>
              </a:rPr>
              <a:t>両方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5BFD19-A74F-4240-9810-B7137E57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524500"/>
            <a:ext cx="514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別モデルで見直し、人間が判断する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86E06F-EA83-4F5B-9657-E60038A5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7A8492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7A8492"/>
                </a:solidFill>
                <a:latin typeface="Yu Gothic"/>
                <a:ea typeface="Yu Gothic"/>
                <a:cs typeface="Yu Gothic"/>
              </a:rPr>
              <a:t>Group Overseas Business / M&amp;A planning team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B9FF00-9C2E-4BC7-A59E-2BD3E656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1">
                <a:solidFill>
                  <a:srgbClr val="7A8492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7A8492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930157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00609B-5BAC-489D-BB64-8CF18245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AC"/>
          </a:solidFill>
          <a:ln xmlns:a="http://schemas.openxmlformats.org/drawingml/2006/main" w="0">
            <a:solidFill>
              <a:srgbClr val="1768A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D497F-76F2-4615-B6FF-2BA816E8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1768AC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768AC"/>
                </a:solidFill>
                <a:latin typeface="Yu Gothic"/>
                <a:ea typeface="Yu Gothic"/>
                <a:cs typeface="Yu Gothic"/>
              </a:rPr>
              <a:t>Agent functions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BF68A-166C-46EB-9613-57BCDE08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95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前回資料で示した機能は、Codexでも実務デモとして厚く見せられる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1F1D4-86B4-4772-B0AD-91BC90C8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10096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専門用語を前面に出さず、ビジネス成果物として見せると伝わりやすくなります。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6818C-0C76-4BB1-911F-2DB15B17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2209800" cy="12954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DBC5E-732F-43FB-A0C6-5A73D6FD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AC"/>
          </a:solidFill>
          <a:ln xmlns:a="http://schemas.openxmlformats.org/drawingml/2006/main" w="9525">
            <a:solidFill>
              <a:srgbClr val="1768A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A0A86-812E-486C-8ED1-365916BE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1790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956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標準テンプレート化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FEC70-0602-496E-B0CE-D245B766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1790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706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投資メモや調査依頼の型を固定し、誰が使っても一定品質にする。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88F5F-A069-4F2F-915A-10CE1F02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86125"/>
            <a:ext cx="72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C80297-8402-41E0-8E34-B59D70DF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90875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solidFill>
              <a:srgbClr val="DCE4E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D48A7-82C5-4C1E-AF82-5B9FC48A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47950"/>
            <a:ext cx="2209800" cy="12954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B21D89-0EDA-41B7-9131-3FBBFEF4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4795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C065E1-C19E-4FF2-A7D8-6F193446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19400"/>
            <a:ext cx="1790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複数AIで並列調査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28D7AA-E246-4072-BB2A-C831AEEE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238500"/>
            <a:ext cx="1790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814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国別、競合別、論点別に分けて初期調査を一気に進める。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A09D7-4C7B-4584-B9C3-0C67C585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86125"/>
            <a:ext cx="72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E3DC6A-4889-4150-8419-1B7F77BD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90875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solidFill>
              <a:srgbClr val="DCE4E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C8159C-0D7E-4B3E-9C9E-E06B9FCE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47950"/>
            <a:ext cx="2209800" cy="12954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6280E6-1BC3-4B12-A80E-A5E2372F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4795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32A"/>
          </a:solidFill>
          <a:ln xmlns:a="http://schemas.openxmlformats.org/drawingml/2006/main" w="9525">
            <a:solidFill>
              <a:srgbClr val="B5832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114849-8C5C-46EA-9D76-1DA55CC6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19400"/>
            <a:ext cx="1790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週次モニタリング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A8E72C-BC9F-49BD-99D1-AFC8A048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38500"/>
            <a:ext cx="1790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814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ニュースや市場指標を継続的に確認し、変化だけを拾う。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120B6B-2674-43A2-B801-30444CF4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86125"/>
            <a:ext cx="72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DD463F-F341-48B4-B622-35FAC3C5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90875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solidFill>
              <a:srgbClr val="DCE4E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D8FD83-61F5-4D72-9F2B-149C233D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47950"/>
            <a:ext cx="1200150" cy="12954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7A77DB-503F-4F6A-A58D-0E3FFA0F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952750"/>
            <a:ext cx="857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834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資料化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25E3B9-04A3-4023-A529-F5115C35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71850"/>
            <a:ext cx="895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7944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会議で使う形へ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8B915B-2C66-4654-BBA5-156FF215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05350"/>
            <a:ext cx="8648700" cy="11620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634BF6-B965-4B9D-BA9B-7F72DE7F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0535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4A"/>
          </a:solidFill>
          <a:ln xmlns:a="http://schemas.openxmlformats.org/drawingml/2006/main" w="9525">
            <a:solidFill>
              <a:srgbClr val="B84A4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DF8348-6FD3-4558-87CA-CACD9313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76800"/>
            <a:ext cx="8229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見せ方の工夫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F57638-8F2A-4CF4-AE27-5B635A80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95900"/>
            <a:ext cx="8229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844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「機能名」ではなく、「何がどこまで作れるか」を実物で示す。銀行のビジネスユーザーには、完成物のイメージが最も伝わります。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0EE964-0A79-49B4-BAC7-572FEE58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7A8492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7A8492"/>
                </a:solidFill>
                <a:latin typeface="Yu Gothic"/>
                <a:ea typeface="Yu Gothic"/>
                <a:cs typeface="Yu Gothic"/>
              </a:rPr>
              <a:t>Group Overseas Business / M&amp;A planning team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0CCF18-881E-437B-B8AA-4592CA5A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1">
                <a:solidFill>
                  <a:srgbClr val="7A8492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7A8492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029245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CBA63C-4D52-4D1D-9A96-1E9027E4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AC"/>
          </a:solidFill>
          <a:ln xmlns:a="http://schemas.openxmlformats.org/drawingml/2006/main" w="0">
            <a:solidFill>
              <a:srgbClr val="1768A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6DA32-A13B-4AE8-8B1B-43F80ACA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1768AC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768AC"/>
                </a:solidFill>
                <a:latin typeface="Yu Gothic"/>
                <a:ea typeface="Yu Gothic"/>
                <a:cs typeface="Yu Gothic"/>
              </a:rPr>
              <a:t>Recommended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3DFA5-C46A-4CBB-9C04-8257F5B9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95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一流の使い方は、片方を選ぶより「作るAI」と「見るAI」を分けること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E5264-7FD8-4481-8A15-0F2842D5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10096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両方使える状態にしておくと、成果物の速度とレビュー品質を同時に取りに行けます。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1504A-6D14-48E3-B5C9-AEF3ACBD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2000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DCEE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B9701-DF3B-442F-81BB-701C0091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1657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8474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1">
                <a:solidFill>
                  <a:srgbClr val="1768AC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768AC"/>
                </a:solidFill>
                <a:latin typeface="Yu Gothic"/>
                <a:ea typeface="Yu Gothic"/>
                <a:cs typeface="Yu Gothic"/>
              </a:rPr>
              <a:t>Codex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B954D0-64B3-44AF-8384-419338F2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1657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882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調べる・作る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AC9EB-613F-4005-AC2B-F7BCEEF6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5757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C5"/>
          </a:solidFill>
          <a:ln xmlns:a="http://schemas.openxmlformats.org/drawingml/2006/main" w="9525">
            <a:solidFill>
              <a:srgbClr val="AAB7C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452E4D-4B51-4A9E-9832-EDB2E2BF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62325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7C5"/>
          </a:solidFill>
          <a:ln xmlns:a="http://schemas.openxmlformats.org/drawingml/2006/main" w="0">
            <a:solidFill>
              <a:srgbClr val="AAB7C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6259DA-73CA-4B82-A287-0ED98335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57500"/>
            <a:ext cx="2000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4F5EE"/>
          </a:solidFill>
          <a:ln xmlns:a="http://schemas.openxmlformats.org/drawingml/2006/main" w="9525">
            <a:solidFill>
              <a:srgbClr val="E4F5E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1E38D5-7273-4DCA-9566-0AC2DABB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86100"/>
            <a:ext cx="1657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8474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1">
                <a:solidFill>
                  <a:srgbClr val="2B8A6E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B8A6E"/>
                </a:solidFill>
                <a:latin typeface="Yu Gothic"/>
                <a:ea typeface="Yu Gothic"/>
                <a:cs typeface="Yu Gothic"/>
              </a:rPr>
              <a:t>Claude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185AF-61A6-44E0-A725-7F3A747F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67100"/>
            <a:ext cx="1657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882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読む・疑う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27B5FE-49B7-45E4-A3AF-42D09F0B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5757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C5"/>
          </a:solidFill>
          <a:ln xmlns:a="http://schemas.openxmlformats.org/drawingml/2006/main" w="9525">
            <a:solidFill>
              <a:srgbClr val="AAB7C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7577CC-5FAB-4513-A027-E5D891A1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62325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7C5"/>
          </a:solidFill>
          <a:ln xmlns:a="http://schemas.openxmlformats.org/drawingml/2006/main" w="0">
            <a:solidFill>
              <a:srgbClr val="AAB7C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6A0739-4A7F-420F-A8E1-356DD661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57500"/>
            <a:ext cx="2000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DCEE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4167E0-44C1-4098-BDF1-A9381642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86100"/>
            <a:ext cx="1657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8474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1">
                <a:solidFill>
                  <a:srgbClr val="1768AC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768AC"/>
                </a:solidFill>
                <a:latin typeface="Yu Gothic"/>
                <a:ea typeface="Yu Gothic"/>
                <a:cs typeface="Yu Gothic"/>
              </a:rPr>
              <a:t>Codex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3C279A-346B-47E8-832E-AC4B9B7F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67100"/>
            <a:ext cx="1657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882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直す・仕上げる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819F7F-5FC6-4F37-93F9-8B8175AD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5757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C5"/>
          </a:solidFill>
          <a:ln xmlns:a="http://schemas.openxmlformats.org/drawingml/2006/main" w="9525">
            <a:solidFill>
              <a:srgbClr val="AAB7C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28863A-7EF3-4039-B760-28A89F87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62325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7C5"/>
          </a:solidFill>
          <a:ln xmlns:a="http://schemas.openxmlformats.org/drawingml/2006/main" w="0">
            <a:solidFill>
              <a:srgbClr val="AAB7C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096144-BEAC-418B-AD5C-CD63DA67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0"/>
            <a:ext cx="2000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0C7"/>
          </a:solidFill>
          <a:ln xmlns:a="http://schemas.openxmlformats.org/drawingml/2006/main" w="9525">
            <a:solidFill>
              <a:srgbClr val="FFF0C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7DB2B0-B3E2-4313-B559-74621D50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86100"/>
            <a:ext cx="1657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8474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1">
                <a:solidFill>
                  <a:srgbClr val="B5832A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B5832A"/>
                </a:solidFill>
                <a:latin typeface="Yu Gothic"/>
                <a:ea typeface="Yu Gothic"/>
                <a:cs typeface="Yu Gothic"/>
              </a:rPr>
              <a:t>人間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1CA9D4-9EED-475C-A5FB-DFF02DDF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67100"/>
            <a:ext cx="1657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882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判断する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554748-53C0-4B27-B2F7-87D80CCC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76800"/>
            <a:ext cx="95631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5053F7-000C-44CA-B0D3-6A40FCBD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24450"/>
            <a:ext cx="895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7934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導入判断としては、「どちらか1つに絞る」よりも、日常作業の基盤と深いレビュー役を分ける方が実務に合いやすい。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3B52C4-8C34-4C1A-A1F5-69BFF706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7A8492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7A8492"/>
                </a:solidFill>
                <a:latin typeface="Yu Gothic"/>
                <a:ea typeface="Yu Gothic"/>
                <a:cs typeface="Yu Gothic"/>
              </a:rPr>
              <a:t>Group Overseas Business / M&amp;A planning team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38E66B-D33B-4647-A88D-1BC6A6CE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1">
                <a:solidFill>
                  <a:srgbClr val="7A8492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7A8492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776848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0C0D61-96A7-4029-A13D-A95C5FAF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AC"/>
          </a:solidFill>
          <a:ln xmlns:a="http://schemas.openxmlformats.org/drawingml/2006/main" w="0">
            <a:solidFill>
              <a:srgbClr val="1768A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17F47-DFDE-457E-85E2-7B28E2A1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1768AC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768AC"/>
                </a:solidFill>
                <a:latin typeface="Yu Gothic"/>
                <a:ea typeface="Yu Gothic"/>
                <a:cs typeface="Yu Gothic"/>
              </a:rPr>
              <a:t>Demo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AE7B4-D781-4EBB-A395-DFD869C4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95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第2回デモでは、前回の「できること」を成果物として回収する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65144-E18C-40CD-B9E2-3FC12ED2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10096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時間内で全部を操作しきるより、実務成果物の到達点を見せる構成にします。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A20C2-216C-42DE-BEC8-D8191C67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30480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54C11-3F07-43A6-9F0F-2FD57E7F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AC"/>
          </a:solidFill>
          <a:ln xmlns:a="http://schemas.openxmlformats.org/drawingml/2006/main" w="9525">
            <a:solidFill>
              <a:srgbClr val="1768A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D24C23-C2D3-45F9-B9BC-1D9694B3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95600"/>
            <a:ext cx="2628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1. 調査から比較表へ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65038-DFC6-4F21-B8AF-32974A92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14700"/>
            <a:ext cx="2628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対象国・競合・規制を調べ、投資検討で使える比較表にする。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6E438-4387-4717-9ADC-05557E49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24150"/>
            <a:ext cx="30480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EB48E-58CF-41EE-84D0-A69E7CA5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2415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9D9318-CE42-4472-9C73-265B9E93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95600"/>
            <a:ext cx="2628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2. 比較表から説明資料へ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B2551-DB15-4575-BFAF-F993B79C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14700"/>
            <a:ext cx="2628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表やメモを、役員向けに読める説明資料・スライドに変える。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4F452D-988E-4478-9B0D-D99EAD4D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30480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8816D4-C7F2-4C72-95FC-2B30F0B2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32A"/>
          </a:solidFill>
          <a:ln xmlns:a="http://schemas.openxmlformats.org/drawingml/2006/main" w="9525">
            <a:solidFill>
              <a:srgbClr val="B5832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C61044-28E7-4D31-BDC6-0D395228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95600"/>
            <a:ext cx="2628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3. 画像で伝える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EE861A-A53B-44C8-BA13-0AF8224C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14700"/>
            <a:ext cx="2628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業務フローやBefore/Afterを画像・図解にし、直感的に見せる。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E090B9-8FB2-4F52-8E67-F436454E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30480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124410-220D-46E9-9272-219CA3D7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4A"/>
          </a:solidFill>
          <a:ln xmlns:a="http://schemas.openxmlformats.org/drawingml/2006/main" w="9525">
            <a:solidFill>
              <a:srgbClr val="B84A4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2ABA60-F543-411C-83E6-AFDD32CD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86300"/>
            <a:ext cx="2628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4. 別モデルでレビュー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2BFA6E-9314-4FB2-834F-3A91DBC4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2628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693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Claude Codeをレビュー役に置き、論点漏れや表現の違和感を確認する。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FD898A-3FFE-45BE-94C6-E7697555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14850"/>
            <a:ext cx="30480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911F7C-91F6-4734-BC92-99C26ABF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1485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AC"/>
          </a:solidFill>
          <a:ln xmlns:a="http://schemas.openxmlformats.org/drawingml/2006/main" w="9525">
            <a:solidFill>
              <a:srgbClr val="1768A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80F890-5FAE-4463-8837-7AA9C47C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686300"/>
            <a:ext cx="2628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5. 音声から作業依頼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384BAC-A365-4AF8-977F-7B71205F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105400"/>
            <a:ext cx="2628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口頭メモから調査・資料化まで進められることを見せる。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545969-B5A0-4328-AE84-77137F18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14850"/>
            <a:ext cx="30480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2272D4-5FFF-4434-957B-CABDEA40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1485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8C2297-04A4-41EC-A5E9-C411839D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86300"/>
            <a:ext cx="2628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6. 定期確認のイメージ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DBE5C0-B966-4736-9B13-6FC31DCB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105400"/>
            <a:ext cx="2628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週次で変化を拾い、必要なときだけ人間が深掘りする流れを示す。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BD9ADE-BF12-4E53-AA25-F343E4AB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7A8492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7A8492"/>
                </a:solidFill>
                <a:latin typeface="Yu Gothic"/>
                <a:ea typeface="Yu Gothic"/>
                <a:cs typeface="Yu Gothic"/>
              </a:rPr>
              <a:t>Group Overseas Business / M&amp;A planning team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BEE340-13CB-48E8-BBEF-7DF37740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1">
                <a:solidFill>
                  <a:srgbClr val="7A8492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7A8492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874078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7473B0-61E3-4983-B6D8-606014F5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AC"/>
          </a:solidFill>
          <a:ln xmlns:a="http://schemas.openxmlformats.org/drawingml/2006/main" w="0">
            <a:solidFill>
              <a:srgbClr val="1768A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465A10-C63E-490B-B601-C8852728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1768AC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768AC"/>
                </a:solidFill>
                <a:latin typeface="Yu Gothic"/>
                <a:ea typeface="Yu Gothic"/>
                <a:cs typeface="Yu Gothic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7137A-B68E-4FAA-BF8C-2CA218D0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9334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結論：両方使える状態が最も強い。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ただし日常利用の基盤はCodexが有力。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3E123-4E39-40CB-8326-3A494F5B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9334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671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Claude Codeは、M&amp;A資料の深い読み込み・レビュー品質で補完価値があります。Codexは、作業開始から成果物化までの広さ、画像・音声・資料作成まで含めた日常利用で強みが出ます。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B6E79-55D2-4F6C-B9D8-E790F578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19500"/>
            <a:ext cx="937260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6BCD4D-8D3A-4547-B6ED-307E41A0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1950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AC"/>
          </a:solidFill>
          <a:ln xmlns:a="http://schemas.openxmlformats.org/drawingml/2006/main" w="9525">
            <a:solidFill>
              <a:srgbClr val="1768A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109C6-AAD8-486D-A316-76AA1BBA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90950"/>
            <a:ext cx="8953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22033"/>
                </a:solidFill>
                <a:latin typeface="Yu Gothic"/>
                <a:ea typeface="Yu Gothic"/>
                <a:cs typeface="Yu Gothic"/>
              </a:rPr>
              <a:t>導入メッセージ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430CE-1FFF-4A5F-BBCF-18084461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10050"/>
            <a:ext cx="8953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854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676"/>
                </a:solidFill>
                <a:latin typeface="Yu Gothic"/>
                <a:ea typeface="Yu Gothic"/>
                <a:cs typeface="Yu Gothic"/>
              </a:rPr>
              <a:t>AIに詳しい人だけの道具ではなく、企画チームの作業を前に進める実務基盤として試す価値があります。リスクは運用で積み上げて管理しつつ、まずは成果物で価値を確認する進め方が現実的です。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9BCDC-E4F3-4873-B076-15C24059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10200"/>
            <a:ext cx="857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2B8A6E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B8A6E"/>
                </a:solidFill>
                <a:latin typeface="Yu Gothic"/>
                <a:ea typeface="Yu Gothic"/>
                <a:cs typeface="Yu Gothic"/>
              </a:rPr>
              <a:t>次回は、実際のM&amp;A企画ユースケースに近い成果物で比較する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149A7-9A5D-4678-9989-29C5FFC0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7A8492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7A8492"/>
                </a:solidFill>
                <a:latin typeface="Yu Gothic"/>
                <a:ea typeface="Yu Gothic"/>
                <a:cs typeface="Yu Gothic"/>
              </a:rPr>
              <a:t>Group Overseas Business / M&amp;A planning team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7E87EF-3FC6-4C96-8D6A-5092DEE3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1">
                <a:solidFill>
                  <a:srgbClr val="7A8492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7A8492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608787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2026-05-06T04:22:12.6790000Z</dcterms:created>
  <dcterms:modified xsi:type="dcterms:W3CDTF">2026-05-06T04:22:12.6790000Z</dcterms:modified>
</coreProperties>
</file>